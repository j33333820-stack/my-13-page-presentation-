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CE36FE-28B2-4A3F-B624-0C50E0A4AFE6}">
  <a:tblStyle styleId="{3DCE36FE-28B2-4A3F-B624-0C50E0A4AF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838c0aa5d6446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838c0aa5d6446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838c0aa5d6446c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2838c0aa5d6446c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838c0aa5d6446c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2838c0aa5d6446c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838c0aa5d6446c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2838c0aa5d6446c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2838c0aa5d6446c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2838c0aa5d6446c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2838c0aa5d6446c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2838c0aa5d6446c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2838c0aa5d6446c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2838c0aa5d6446c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2838c0aa5d6446c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2838c0aa5d6446c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2838c0aa5d6446c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2838c0aa5d6446c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2838c0aa5d6446c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2838c0aa5d6446c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2838c0aa5d6446c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2838c0aa5d6446c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2838c0aa5d6446c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2838c0aa5d6446c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nkd.in/p/gKxHtgCa" TargetMode="External"/><Relationship Id="rId4" Type="http://schemas.openxmlformats.org/officeDocument/2006/relationships/hyperlink" Target="https://drive.google.com/file/d/1VjhVZTakpQ0l8SUDa2lVIkm7ctNi5qaQ/view?usp=drivesdk" TargetMode="External"/><Relationship Id="rId5" Type="http://schemas.openxmlformats.org/officeDocument/2006/relationships/hyperlink" Target="https://github.com/j33333820-stack/data-cleaning-project2" TargetMode="External"/><Relationship Id="rId6" Type="http://schemas.openxmlformats.org/officeDocument/2006/relationships/hyperlink" Target="https://github.com/j33333820-stack/retail-data-analysis/tree/main" TargetMode="External"/><Relationship Id="rId7" Type="http://schemas.openxmlformats.org/officeDocument/2006/relationships/hyperlink" Target="https://github.com/j33333820-stack/Executive_KPI_Dashboard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206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4300"/>
              <a:t>Executive Decision Report</a:t>
            </a:r>
            <a:endParaRPr b="1" sz="4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300"/>
              <a:t>Retail Business Analytics</a:t>
            </a:r>
            <a:r>
              <a:rPr lang="en-GB" sz="4300"/>
              <a:t> </a:t>
            </a:r>
            <a:endParaRPr sz="4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12300">
                <a:solidFill>
                  <a:schemeClr val="dk1"/>
                </a:solidFill>
              </a:rPr>
              <a:t>Sub</a:t>
            </a:r>
            <a:r>
              <a:rPr b="1" lang="en-GB" sz="13100">
                <a:solidFill>
                  <a:schemeClr val="dk1"/>
                </a:solidFill>
              </a:rPr>
              <a:t>title</a:t>
            </a:r>
            <a:r>
              <a:rPr b="1" lang="en-GB" sz="9500">
                <a:solidFill>
                  <a:schemeClr val="dk1"/>
                </a:solidFill>
              </a:rPr>
              <a:t>:</a:t>
            </a:r>
            <a:r>
              <a:rPr lang="en-GB" sz="9500">
                <a:solidFill>
                  <a:schemeClr val="dk1"/>
                </a:solidFill>
              </a:rPr>
              <a:t> Data-Driven Insights for Revenue Growth &amp; Business Improvement</a:t>
            </a:r>
            <a:endParaRPr sz="9500">
              <a:solidFill>
                <a:schemeClr val="dk1"/>
              </a:solidFill>
            </a:endParaRPr>
          </a:p>
          <a:p>
            <a:pPr indent="-37941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9500">
                <a:solidFill>
                  <a:schemeClr val="dk1"/>
                </a:solidFill>
              </a:rPr>
              <a:t>Prepared by: </a:t>
            </a:r>
            <a:r>
              <a:rPr b="1" lang="en-GB" sz="9500">
                <a:solidFill>
                  <a:schemeClr val="dk1"/>
                </a:solidFill>
              </a:rPr>
              <a:t>Janani S</a:t>
            </a:r>
            <a:endParaRPr b="1" sz="9500">
              <a:solidFill>
                <a:schemeClr val="dk1"/>
              </a:solidFill>
            </a:endParaRPr>
          </a:p>
          <a:p>
            <a:pPr indent="-37941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9500">
                <a:solidFill>
                  <a:schemeClr val="dk1"/>
                </a:solidFill>
              </a:rPr>
              <a:t>Project: Retail Business Analytics</a:t>
            </a:r>
            <a:endParaRPr sz="9500">
              <a:solidFill>
                <a:schemeClr val="dk1"/>
              </a:solidFill>
            </a:endParaRPr>
          </a:p>
          <a:p>
            <a:pPr indent="-37941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9500">
                <a:solidFill>
                  <a:schemeClr val="dk1"/>
                </a:solidFill>
              </a:rPr>
              <a:t>Analysis Period: Based on the provided retail dataset</a:t>
            </a:r>
            <a:endParaRPr sz="9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Executive Summary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Key Business Insights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Sales performance varies across customer segments and product categories.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Revenue is influenced by quantity, unit price, discount, and customer behavior.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Data analysis identified opportunities to improve revenue and reduce business risks.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Customer and category-level analysis can support better business decisions.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Three strategic actions are proposed for sustainable business growth.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Decision Focus:</a:t>
            </a:r>
            <a:r>
              <a:rPr lang="en-GB" sz="1700">
                <a:solidFill>
                  <a:schemeClr val="dk1"/>
                </a:solidFill>
              </a:rPr>
              <a:t> Revenue Growth | Customer Strategy | Discount Optimization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Objective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Objectives of the Analysis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Analyze overall retail business performance.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Identify major revenue and sales drivers.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Understand customer segment and category performance.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Detect unusual values and potential business risks.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Study relationships between important numerical variables.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Provide actionable recommendations using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&amp; Methodology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Analytical Approach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Dataset:</a:t>
            </a:r>
            <a:r>
              <a:rPr lang="en-GB">
                <a:solidFill>
                  <a:schemeClr val="dk1"/>
                </a:solidFill>
              </a:rPr>
              <a:t> Retail Orders Dataset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Key Variables: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Order ID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Order Date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Customer Segment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Category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Quantity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Unit Price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Discount %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Payment 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</a:rPr>
              <a:t>Methodology: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Data Collection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Data Cleaning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Exploratory Data Analysis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Statistical Analysis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Visualization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Business Insights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</a:rPr>
              <a:t>Strategic Recommendations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Overall Business Performance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Performance Overview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Total orders were analyzed to understand overall business activity.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Revenue patterns were examined across categories and customer segments.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Quantity and unit price were used to understand sales contribution.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Payment status was analyzed to identify completed and pending transactions.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Performance differences indicate opportunities for targeted business strategies.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Visuals to include:</a:t>
            </a:r>
            <a:br>
              <a:rPr b="1"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</a:rPr>
              <a:t> 📊 KPI Cards + Revenue/Order Chart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KPI Cards: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Total Orders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Total Revenue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Average Order Value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Total Quantity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Revenue Drivers 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Drives Revenue?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analysis indicates that revenue is mainly influenced by: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Quantity Sold</a:t>
            </a:r>
            <a:r>
              <a:rPr lang="en-GB" sz="1300">
                <a:solidFill>
                  <a:schemeClr val="dk1"/>
                </a:solidFill>
              </a:rPr>
              <a:t> – Higher quantities directly increase sales value.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Unit Price</a:t>
            </a:r>
            <a:r>
              <a:rPr lang="en-GB" sz="1300">
                <a:solidFill>
                  <a:schemeClr val="dk1"/>
                </a:solidFill>
              </a:rPr>
              <a:t> – Higher-priced products contribute more revenue per unit.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Product Category</a:t>
            </a:r>
            <a:r>
              <a:rPr lang="en-GB" sz="1300">
                <a:solidFill>
                  <a:schemeClr val="dk1"/>
                </a:solidFill>
              </a:rPr>
              <a:t> – Different categories show different sales performance.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Customer Segment</a:t>
            </a:r>
            <a:r>
              <a:rPr lang="en-GB" sz="1300">
                <a:solidFill>
                  <a:schemeClr val="dk1"/>
                </a:solidFill>
              </a:rPr>
              <a:t> – Customer groups contribute differently to overall revenue.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Discount Level</a:t>
            </a:r>
            <a:r>
              <a:rPr lang="en-GB" sz="1300">
                <a:solidFill>
                  <a:schemeClr val="dk1"/>
                </a:solidFill>
              </a:rPr>
              <a:t> – Discounts can influence purchase volume and revenue.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Business Insight:</a:t>
            </a:r>
            <a:br>
              <a:rPr b="1" lang="en-GB" sz="13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 Revenue growth should focus on high-performing products and customer segments while maintaining controlled discount levels.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&amp; Category Analysis 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Customer and Product Performance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Compare revenue contribution across customer segments.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Identify categories generating higher sales.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Detect categories with relatively lower contribution.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Analyze whether high-volume categories also generate strong revenue.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Use segment-level insights for targeted marketing and sales planning.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Visuals:</a:t>
            </a:r>
            <a:br>
              <a:rPr b="1" lang="en-GB" sz="13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 📊 Customer Segment Bar Chart</a:t>
            </a:r>
            <a:br>
              <a:rPr lang="en-GB" sz="13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 📊 Category Revenue Chart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Decision Opportunity:</a:t>
            </a:r>
            <a:br>
              <a:rPr b="1" lang="en-GB" sz="13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 Allocate marketing and inventory resources according to performance patterns.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Areas &amp; Data Insights 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Business Risks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Excessive discounts may reduce revenue margins.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Low-performing categories may require strategic review.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Pending or unsuccessful payments can affect realized revenue.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Extreme values may indicate unusual transactions or data-quality issues.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Customer segment concentration can create dependency risk.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Risk Management Actions: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Monitor discount thresholds.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Review low-performing categories.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Track payment completion rates.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Continue periodic data-quality checks.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Recommendation 1 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Optimize Discount Strategy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Recommendation: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Introduce data-driven discount limits based on product/category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Action Plan: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Identify products receiving high discounts.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Compare discount levels with sales volume.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Reduce unnecessary discounts.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Provide higher discounts only where they improve sales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Expected Impact: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Better revenue realization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Improved pricing control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Reduced unnecessary discounting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Recommendation 2 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Focus on High-Value Customers &amp; Categories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Recommendation: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Prioritize customer segments and product categories with stronger revenue contribution.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Action Plan: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Identify top-performing segments.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Promote high-performing categories.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Create targeted campaigns.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Improve inventory availability for high-demand products.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Expected Impact: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Increased sales opportunities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Better resource allocation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Improved customer targeting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Recommendation 3 + ROI &amp; Timeline 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25476"/>
              <a:buFont typeface="Arial"/>
              <a:buNone/>
            </a:pPr>
            <a:r>
              <a:rPr b="1" lang="en-GB" sz="4318">
                <a:solidFill>
                  <a:schemeClr val="dk1"/>
                </a:solidFill>
              </a:rPr>
              <a:t>Implement a Data-Driven Performance Dashboard</a:t>
            </a:r>
            <a:endParaRPr b="1" sz="431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588"/>
              <a:buFont typeface="Arial"/>
              <a:buNone/>
            </a:pPr>
            <a:r>
              <a:rPr b="1" lang="en-GB" sz="3718">
                <a:solidFill>
                  <a:schemeClr val="dk1"/>
                </a:solidFill>
              </a:rPr>
              <a:t>Recommendation:</a:t>
            </a:r>
            <a:br>
              <a:rPr b="1" lang="en-GB" sz="3718">
                <a:solidFill>
                  <a:schemeClr val="dk1"/>
                </a:solidFill>
              </a:rPr>
            </a:br>
            <a:r>
              <a:rPr lang="en-GB" sz="3718">
                <a:solidFill>
                  <a:schemeClr val="dk1"/>
                </a:solidFill>
              </a:rPr>
              <a:t> Use an interactive dashboard to continuously monitor business KPIs.</a:t>
            </a:r>
            <a:endParaRPr sz="371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9588"/>
              <a:buFont typeface="Arial"/>
              <a:buNone/>
            </a:pPr>
            <a:r>
              <a:rPr b="1" lang="en-GB" sz="3718">
                <a:solidFill>
                  <a:schemeClr val="dk1"/>
                </a:solidFill>
              </a:rPr>
              <a:t>Dashboard KPIs:</a:t>
            </a:r>
            <a:endParaRPr b="1" sz="3718">
              <a:solidFill>
                <a:schemeClr val="dk1"/>
              </a:solidFill>
            </a:endParaRPr>
          </a:p>
          <a:p>
            <a:pPr indent="-28761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718">
                <a:solidFill>
                  <a:schemeClr val="dk1"/>
                </a:solidFill>
              </a:rPr>
              <a:t>Revenue</a:t>
            </a:r>
            <a:endParaRPr sz="3718">
              <a:solidFill>
                <a:schemeClr val="dk1"/>
              </a:solidFill>
            </a:endParaRPr>
          </a:p>
          <a:p>
            <a:pPr indent="-2876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718">
                <a:solidFill>
                  <a:schemeClr val="dk1"/>
                </a:solidFill>
              </a:rPr>
              <a:t>Orders</a:t>
            </a:r>
            <a:endParaRPr sz="3718">
              <a:solidFill>
                <a:schemeClr val="dk1"/>
              </a:solidFill>
            </a:endParaRPr>
          </a:p>
          <a:p>
            <a:pPr indent="-2876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718">
                <a:solidFill>
                  <a:schemeClr val="dk1"/>
                </a:solidFill>
              </a:rPr>
              <a:t>Quantity Sold</a:t>
            </a:r>
            <a:endParaRPr sz="3718">
              <a:solidFill>
                <a:schemeClr val="dk1"/>
              </a:solidFill>
            </a:endParaRPr>
          </a:p>
          <a:p>
            <a:pPr indent="-2876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718">
                <a:solidFill>
                  <a:schemeClr val="dk1"/>
                </a:solidFill>
              </a:rPr>
              <a:t>Average Order Value</a:t>
            </a:r>
            <a:endParaRPr sz="3718">
              <a:solidFill>
                <a:schemeClr val="dk1"/>
              </a:solidFill>
            </a:endParaRPr>
          </a:p>
          <a:p>
            <a:pPr indent="-2876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718">
                <a:solidFill>
                  <a:schemeClr val="dk1"/>
                </a:solidFill>
              </a:rPr>
              <a:t>Discount %</a:t>
            </a:r>
            <a:endParaRPr sz="3718">
              <a:solidFill>
                <a:schemeClr val="dk1"/>
              </a:solidFill>
            </a:endParaRPr>
          </a:p>
          <a:p>
            <a:pPr indent="-2876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718">
                <a:solidFill>
                  <a:schemeClr val="dk1"/>
                </a:solidFill>
              </a:rPr>
              <a:t>Payment Status</a:t>
            </a:r>
            <a:endParaRPr sz="3718">
              <a:solidFill>
                <a:schemeClr val="dk1"/>
              </a:solidFill>
            </a:endParaRPr>
          </a:p>
          <a:p>
            <a:pPr indent="-2876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718">
                <a:solidFill>
                  <a:schemeClr val="dk1"/>
                </a:solidFill>
              </a:rPr>
              <a:t>Category Performance</a:t>
            </a:r>
            <a:endParaRPr sz="371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718">
                <a:solidFill>
                  <a:schemeClr val="dk1"/>
                </a:solidFill>
              </a:rPr>
              <a:t>Implementation Timeline</a:t>
            </a:r>
            <a:endParaRPr b="1" sz="371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718">
                <a:solidFill>
                  <a:schemeClr val="dk1"/>
                </a:solidFill>
              </a:rPr>
              <a:t>0–30 Days:</a:t>
            </a:r>
            <a:r>
              <a:rPr lang="en-GB" sz="3718">
                <a:solidFill>
                  <a:schemeClr val="dk1"/>
                </a:solidFill>
              </a:rPr>
              <a:t> Data validation + KPI setup</a:t>
            </a:r>
            <a:br>
              <a:rPr lang="en-GB" sz="3718">
                <a:solidFill>
                  <a:schemeClr val="dk1"/>
                </a:solidFill>
              </a:rPr>
            </a:br>
            <a:r>
              <a:rPr lang="en-GB" sz="3718">
                <a:solidFill>
                  <a:schemeClr val="dk1"/>
                </a:solidFill>
              </a:rPr>
              <a:t> </a:t>
            </a:r>
            <a:r>
              <a:rPr b="1" lang="en-GB" sz="3718">
                <a:solidFill>
                  <a:schemeClr val="dk1"/>
                </a:solidFill>
              </a:rPr>
              <a:t>31–60 Days:</a:t>
            </a:r>
            <a:r>
              <a:rPr lang="en-GB" sz="3718">
                <a:solidFill>
                  <a:schemeClr val="dk1"/>
                </a:solidFill>
              </a:rPr>
              <a:t> Implement discount/customer strategies</a:t>
            </a:r>
            <a:br>
              <a:rPr lang="en-GB" sz="3718">
                <a:solidFill>
                  <a:schemeClr val="dk1"/>
                </a:solidFill>
              </a:rPr>
            </a:br>
            <a:r>
              <a:rPr lang="en-GB" sz="3718">
                <a:solidFill>
                  <a:schemeClr val="dk1"/>
                </a:solidFill>
              </a:rPr>
              <a:t> </a:t>
            </a:r>
            <a:r>
              <a:rPr b="1" lang="en-GB" sz="3718">
                <a:solidFill>
                  <a:schemeClr val="dk1"/>
                </a:solidFill>
              </a:rPr>
              <a:t>61–90 Days:</a:t>
            </a:r>
            <a:r>
              <a:rPr lang="en-GB" sz="3718">
                <a:solidFill>
                  <a:schemeClr val="dk1"/>
                </a:solidFill>
              </a:rPr>
              <a:t> Dashboard monitoring + performance review</a:t>
            </a:r>
            <a:endParaRPr sz="371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3718">
                <a:solidFill>
                  <a:schemeClr val="dk1"/>
                </a:solidFill>
              </a:rPr>
              <a:t>ROI should be measured using actual business baseline data rather than unsupported financial estimates.</a:t>
            </a:r>
            <a:endParaRPr i="1" sz="371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Expected ROI Areas </a:t>
            </a:r>
            <a:endParaRPr/>
          </a:p>
        </p:txBody>
      </p:sp>
      <p:graphicFrame>
        <p:nvGraphicFramePr>
          <p:cNvPr id="119" name="Google Shape;119;p23"/>
          <p:cNvGraphicFramePr/>
          <p:nvPr/>
        </p:nvGraphicFramePr>
        <p:xfrm>
          <a:off x="5380275" y="157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{3DCE36FE-28B2-4A3F-B624-0C50E0A4AFE6}</a:tableStyleId>
              </a:tblPr>
              <a:tblGrid>
                <a:gridCol w="1334800"/>
                <a:gridCol w="1334800"/>
              </a:tblGrid>
              <a:tr h="75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Initiative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Expected Business Benefit</a:t>
                      </a:r>
                      <a:r>
                        <a:rPr lang="en-GB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Discount Optimization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Improve revenue efficiency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Customer &amp; Category Focus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Increase sales opportunities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KPI Dashboard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Faster decision-making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Decision &amp; Conclusion 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GB" sz="1390">
                <a:solidFill>
                  <a:schemeClr val="dk1"/>
                </a:solidFill>
              </a:rPr>
              <a:t>Recommended Business Actions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GB" sz="970">
                <a:solidFill>
                  <a:schemeClr val="dk1"/>
                </a:solidFill>
              </a:rPr>
              <a:t>1. Optimize discounts</a:t>
            </a:r>
            <a:br>
              <a:rPr b="1" lang="en-GB" sz="970">
                <a:solidFill>
                  <a:schemeClr val="dk1"/>
                </a:solidFill>
              </a:rPr>
            </a:br>
            <a:r>
              <a:rPr lang="en-GB" sz="970">
                <a:solidFill>
                  <a:schemeClr val="dk1"/>
                </a:solidFill>
              </a:rPr>
              <a:t> Control unnecessary discounting and improve pricing decisions.</a:t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GB" sz="970">
                <a:solidFill>
                  <a:schemeClr val="dk1"/>
                </a:solidFill>
              </a:rPr>
              <a:t>2. Prioritize valuable segments and categories</a:t>
            </a:r>
            <a:br>
              <a:rPr b="1" lang="en-GB" sz="970">
                <a:solidFill>
                  <a:schemeClr val="dk1"/>
                </a:solidFill>
              </a:rPr>
            </a:br>
            <a:r>
              <a:rPr lang="en-GB" sz="970">
                <a:solidFill>
                  <a:schemeClr val="dk1"/>
                </a:solidFill>
              </a:rPr>
              <a:t> Focus resources on areas with stronger business contribution.</a:t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GB" sz="970">
                <a:solidFill>
                  <a:schemeClr val="dk1"/>
                </a:solidFill>
              </a:rPr>
              <a:t>3. Establish continuous KPI monitoring</a:t>
            </a:r>
            <a:br>
              <a:rPr b="1" lang="en-GB" sz="970">
                <a:solidFill>
                  <a:schemeClr val="dk1"/>
                </a:solidFill>
              </a:rPr>
            </a:br>
            <a:r>
              <a:rPr lang="en-GB" sz="970">
                <a:solidFill>
                  <a:schemeClr val="dk1"/>
                </a:solidFill>
              </a:rPr>
              <a:t> Use the analytics dashboard for regular performance tracking.</a:t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GB" sz="1110">
                <a:solidFill>
                  <a:schemeClr val="dk1"/>
                </a:solidFill>
              </a:rPr>
              <a:t>Final Takeaway</a:t>
            </a:r>
            <a:endParaRPr b="1" sz="111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GB" sz="970">
                <a:solidFill>
                  <a:schemeClr val="dk1"/>
                </a:solidFill>
              </a:rPr>
              <a:t>“Convert retail data into measurable business decisions through continuous analysis, targeted strategy, and KPI-based monitoring.”</a:t>
            </a:r>
            <a:endParaRPr b="1"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GB" sz="970">
                <a:solidFill>
                  <a:schemeClr val="dk1"/>
                </a:solidFill>
              </a:rPr>
              <a:t>Portfolio Deliverables:</a:t>
            </a:r>
            <a:endParaRPr b="1"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-GB" sz="970">
                <a:solidFill>
                  <a:schemeClr val="dk1"/>
                </a:solidFill>
              </a:rPr>
              <a:t>Executive Decision Report PDF</a:t>
            </a: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-GB" sz="970">
                <a:solidFill>
                  <a:schemeClr val="dk1"/>
                </a:solidFill>
              </a:rPr>
              <a:t>Final Analytical Jupyter Notebook</a:t>
            </a: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-GB" sz="970">
                <a:solidFill>
                  <a:schemeClr val="dk1"/>
                </a:solidFill>
              </a:rPr>
              <a:t>Interactive Dashboard Link</a:t>
            </a: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n-GB" sz="970">
                <a:solidFill>
                  <a:schemeClr val="dk1"/>
                </a:solidFill>
              </a:rPr>
              <a:t>Dataset / Supporting Files</a:t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620"/>
              <a:t>LINK</a:t>
            </a:r>
            <a:endParaRPr b="1" sz="3620"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https://lnkd.in/p/gKxHtgCa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https://drive.google.com/file/d/1VjhVZTakpQ0l8SUDa2lVIkm7ctNi5qaQ/view?usp=drivesdk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https://github.com/j33333820-stack/data-cleaning-project2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https://github.com/j33333820-stack/retail-data-analysis/tree/main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7"/>
              </a:rPr>
              <a:t>https://github.com/j33333820-stack/Executive_KPI_Dashboard/tree/main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